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
  <Relationship Id="rId1" Type="http://schemas.openxmlformats.org/officeDocument/2006/relationships/extended-properties" Target="docProps/app.xml"></Relationship>
  <Relationship Id="rId2" Type="http://schemas.openxmlformats.org/package/2006/relationships/metadata/core-properties" Target="docProps/core.xml"></Relationship>
  <Relationship Id="rId3" Type="http://schemas.openxmlformats.org/officeDocument/2006/relationships/officeDocument" Target="ppt/presentation.xml"></Relationship>
  <Relationship Id="rId4" Type="http://schemas.openxmlformats.org/officeDocument/2006/relationships/custom-properties" Target="docProps/custom.xml"></Relationship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097280"/>
            <a:ext cx="3200400" cy="32004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1737360"/>
            <a:ext cx="1920240" cy="1920240"/>
          </a:xfrm>
          <a:prstGeom prst="ellipse">
            <a:avLst/>
          </a:prstGeom>
          <a:solidFill>
            <a:srgbClr val="38BDF8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自动调度系统架构图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网络资产管理系统 · 调度层逻辑全景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383280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38BDF8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832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APScheduler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65960" y="3383280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38BDF8">
              <a:alpha val="2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965960" y="33832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Flask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3383280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38BDF8">
              <a:alpha val="2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33832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SNMP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34840" y="3383280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38BDF8">
              <a:alpha val="2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434840" y="33832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LLDP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9280" y="3383280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38BDF8">
              <a:alpha val="2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0" y="33832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Redis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03720" y="3383280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38BDF8">
              <a:alpha val="2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33832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MySQL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2026年7月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调度系统整体架构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① 应用入口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0" y="100584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app.py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1435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</a:rPr>
              <a:t>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② 调度核心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1783080"/>
            <a:ext cx="5486400" cy="82296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92024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560320" y="18470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APScheduler 单例  (BackgroundScheduler)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560320" y="22128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configure_scheduler()  ·  get_scheduler()  ·  shutdown_scheduler()  ·  add_job_to_scheduler()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200400" y="2651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</a:rPr>
              <a:t>▼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2880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③ 定时任务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320040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3200400"/>
            <a:ext cx="54864" cy="777240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33756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88720" y="32735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设备状态检测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1188720" y="35844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check_devices_status_job  ·  5 min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3200400" y="320040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200400" y="3200400"/>
            <a:ext cx="54864" cy="77724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3337560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749040" y="32735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接口数据采集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3749040" y="35844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poll_interfaces_job  ·  5 min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5760720" y="320040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760720" y="320040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3337560"/>
            <a:ext cx="320040" cy="3200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309360" y="32735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连接监控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309360" y="35844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monitor_connections_job  ·  120s</a:t>
            </a:r>
            <a:endParaRPr lang="en-US" sz="800" dirty="0"/>
          </a:p>
        </p:txBody>
      </p:sp>
      <p:sp>
        <p:nvSpPr>
          <p:cNvPr id="30" name="Shape 24"/>
          <p:cNvSpPr/>
          <p:nvPr/>
        </p:nvSpPr>
        <p:spPr>
          <a:xfrm>
            <a:off x="640080" y="416052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640080" y="4160520"/>
            <a:ext cx="54864" cy="77724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297680"/>
            <a:ext cx="320040" cy="32004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188720" y="42336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指标采集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1188720" y="45445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collect_metrics_job  ·  30s</a:t>
            </a:r>
            <a:endParaRPr lang="en-US" sz="800" dirty="0"/>
          </a:p>
        </p:txBody>
      </p:sp>
      <p:sp>
        <p:nvSpPr>
          <p:cNvPr id="35" name="Shape 28"/>
          <p:cNvSpPr/>
          <p:nvPr/>
        </p:nvSpPr>
        <p:spPr>
          <a:xfrm>
            <a:off x="3200400" y="416052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3200400" y="4160520"/>
            <a:ext cx="54864" cy="7772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4297680"/>
            <a:ext cx="320040" cy="32004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3749040" y="42336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链路监控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3749040" y="45445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link_monitor_job  ·  60s</a:t>
            </a:r>
            <a:endParaRPr lang="en-US" sz="800" dirty="0"/>
          </a:p>
        </p:txBody>
      </p:sp>
      <p:sp>
        <p:nvSpPr>
          <p:cNvPr id="40" name="Shape 32"/>
          <p:cNvSpPr/>
          <p:nvPr/>
        </p:nvSpPr>
        <p:spPr>
          <a:xfrm>
            <a:off x="5760720" y="416052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5760720" y="4160520"/>
            <a:ext cx="54864" cy="777240"/>
          </a:xfrm>
          <a:prstGeom prst="rect">
            <a:avLst/>
          </a:prstGeom>
          <a:solidFill>
            <a:srgbClr val="0284C7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4297680"/>
            <a:ext cx="320040" cy="32004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6309360" y="42336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LLDP拓扑发现</a:t>
            </a:r>
            <a:endParaRPr lang="en-US" sz="1100" dirty="0"/>
          </a:p>
        </p:txBody>
      </p:sp>
      <p:sp>
        <p:nvSpPr>
          <p:cNvPr id="44" name="Text 35"/>
          <p:cNvSpPr/>
          <p:nvPr/>
        </p:nvSpPr>
        <p:spPr>
          <a:xfrm>
            <a:off x="6309360" y="45445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lldp_discovery_job  ·  1h</a:t>
            </a:r>
            <a:endParaRPr lang="en-US" sz="800" dirty="0"/>
          </a:p>
        </p:txBody>
      </p:sp>
      <p:sp>
        <p:nvSpPr>
          <p:cNvPr id="45" name="Shape 36"/>
          <p:cNvSpPr/>
          <p:nvPr/>
        </p:nvSpPr>
        <p:spPr>
          <a:xfrm>
            <a:off x="640080" y="512064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</p:sp>
      <p:sp>
        <p:nvSpPr>
          <p:cNvPr id="46" name="Shape 37"/>
          <p:cNvSpPr/>
          <p:nvPr/>
        </p:nvSpPr>
        <p:spPr>
          <a:xfrm>
            <a:off x="640080" y="5120640"/>
            <a:ext cx="54864" cy="777240"/>
          </a:xfrm>
          <a:prstGeom prst="rect">
            <a:avLst/>
          </a:prstGeom>
          <a:solidFill>
            <a:srgbClr val="94A3B8"/>
          </a:solidFill>
          <a:ln/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5257800"/>
            <a:ext cx="320040" cy="320040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1188720" y="51937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链路健康检查</a:t>
            </a:r>
            <a:endParaRPr lang="en-US" sz="1100" dirty="0"/>
          </a:p>
        </p:txBody>
      </p:sp>
      <p:sp>
        <p:nvSpPr>
          <p:cNvPr id="49" name="Text 39"/>
          <p:cNvSpPr/>
          <p:nvPr/>
        </p:nvSpPr>
        <p:spPr>
          <a:xfrm>
            <a:off x="1188720" y="55046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link_health_check_job  ·  Cron 03:00</a:t>
            </a:r>
            <a:endParaRPr lang="en-US" sz="800" dirty="0"/>
          </a:p>
        </p:txBody>
      </p:sp>
      <p:sp>
        <p:nvSpPr>
          <p:cNvPr id="50" name="Text 40"/>
          <p:cNvSpPr/>
          <p:nvPr/>
        </p:nvSpPr>
        <p:spPr>
          <a:xfrm>
            <a:off x="457200" y="4572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④ 任务实现模块</a:t>
            </a:r>
            <a:endParaRPr lang="en-US" sz="1100" dirty="0"/>
          </a:p>
        </p:txBody>
      </p:sp>
      <p:sp>
        <p:nvSpPr>
          <p:cNvPr id="51" name="Shape 41"/>
          <p:cNvSpPr/>
          <p:nvPr/>
        </p:nvSpPr>
        <p:spPr>
          <a:xfrm>
            <a:off x="2011680" y="4553712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52" name="Shape 42"/>
          <p:cNvSpPr/>
          <p:nvPr/>
        </p:nvSpPr>
        <p:spPr>
          <a:xfrm>
            <a:off x="2121408" y="4681728"/>
            <a:ext cx="164592" cy="16459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53" name="Text 43"/>
          <p:cNvSpPr/>
          <p:nvPr/>
        </p:nvSpPr>
        <p:spPr>
          <a:xfrm>
            <a:off x="2331720" y="45537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tasks.py</a:t>
            </a:r>
            <a:endParaRPr lang="en-US" sz="1000" dirty="0"/>
          </a:p>
        </p:txBody>
      </p:sp>
      <p:sp>
        <p:nvSpPr>
          <p:cNvPr id="54" name="Text 44"/>
          <p:cNvSpPr/>
          <p:nvPr/>
        </p:nvSpPr>
        <p:spPr>
          <a:xfrm>
            <a:off x="2331720" y="47548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设备/接口/连接</a:t>
            </a:r>
            <a:endParaRPr lang="en-US" sz="800" dirty="0"/>
          </a:p>
        </p:txBody>
      </p:sp>
      <p:sp>
        <p:nvSpPr>
          <p:cNvPr id="55" name="Shape 45"/>
          <p:cNvSpPr/>
          <p:nvPr/>
        </p:nvSpPr>
        <p:spPr>
          <a:xfrm>
            <a:off x="4297680" y="4553712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56" name="Shape 46"/>
          <p:cNvSpPr/>
          <p:nvPr/>
        </p:nvSpPr>
        <p:spPr>
          <a:xfrm>
            <a:off x="4407408" y="4681728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7" name="Text 47"/>
          <p:cNvSpPr/>
          <p:nvPr/>
        </p:nvSpPr>
        <p:spPr>
          <a:xfrm>
            <a:off x="4617720" y="45537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monitor.py</a:t>
            </a:r>
            <a:endParaRPr lang="en-US" sz="1000" dirty="0"/>
          </a:p>
        </p:txBody>
      </p:sp>
      <p:sp>
        <p:nvSpPr>
          <p:cNvPr id="58" name="Text 48"/>
          <p:cNvSpPr/>
          <p:nvPr/>
        </p:nvSpPr>
        <p:spPr>
          <a:xfrm>
            <a:off x="4617720" y="47548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指标采集/告警</a:t>
            </a:r>
            <a:endParaRPr lang="en-US" sz="800" dirty="0"/>
          </a:p>
        </p:txBody>
      </p:sp>
      <p:sp>
        <p:nvSpPr>
          <p:cNvPr id="59" name="Shape 49"/>
          <p:cNvSpPr/>
          <p:nvPr/>
        </p:nvSpPr>
        <p:spPr>
          <a:xfrm>
            <a:off x="6583680" y="4553712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60" name="Shape 50"/>
          <p:cNvSpPr/>
          <p:nvPr/>
        </p:nvSpPr>
        <p:spPr>
          <a:xfrm>
            <a:off x="6693408" y="4681728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1" name="Text 51"/>
          <p:cNvSpPr/>
          <p:nvPr/>
        </p:nvSpPr>
        <p:spPr>
          <a:xfrm>
            <a:off x="6903720" y="45537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link_monitor.py</a:t>
            </a:r>
            <a:endParaRPr lang="en-US" sz="1000" dirty="0"/>
          </a:p>
        </p:txBody>
      </p:sp>
      <p:sp>
        <p:nvSpPr>
          <p:cNvPr id="62" name="Text 52"/>
          <p:cNvSpPr/>
          <p:nvPr/>
        </p:nvSpPr>
        <p:spPr>
          <a:xfrm>
            <a:off x="6903720" y="47548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链路/拓扑/LLDP</a:t>
            </a:r>
            <a:endParaRPr lang="en-US" sz="800" dirty="0"/>
          </a:p>
        </p:txBody>
      </p:sp>
      <p:sp>
        <p:nvSpPr>
          <p:cNvPr id="63" name="Shape 5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4" name="Text 54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单例模式  ·  应用上下文管理  ·  atexit 自动清理  ·  ThreadPoolExecutor 并发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调度器核心机制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生命周期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347472" cy="34747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40817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app.py __main__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64592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应用启动入口，调用初始化链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22376" y="1810512"/>
            <a:ext cx="0" cy="201168"/>
          </a:xfrm>
          <a:prstGeom prst="line">
            <a:avLst/>
          </a:prstGeom>
          <a:noFill/>
          <a:ln w="19050">
            <a:solidFill>
              <a:srgbClr val="38BDF8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57200" y="2011680"/>
            <a:ext cx="3931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103120"/>
            <a:ext cx="347472" cy="34747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04825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init_link_monitor(app)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28600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实例化 LinkMonitor，挂载到 app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2376" y="2450592"/>
            <a:ext cx="0" cy="201168"/>
          </a:xfrm>
          <a:prstGeom prst="line">
            <a:avLst/>
          </a:prstGeom>
          <a:noFill/>
          <a:ln w="19050">
            <a:solidFill>
              <a:srgbClr val="38BDF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57200" y="2651760"/>
            <a:ext cx="3931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743200"/>
            <a:ext cx="347472" cy="34747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743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268833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configure_scheduler(app)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292608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创建单例 Scheduler，注册 7 个定时任务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2376" y="3090672"/>
            <a:ext cx="0" cy="201168"/>
          </a:xfrm>
          <a:prstGeom prst="line">
            <a:avLst/>
          </a:prstGeom>
          <a:noFill/>
          <a:ln w="19050">
            <a:solidFill>
              <a:srgbClr val="38BDF8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57200" y="3291840"/>
            <a:ext cx="3931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383280"/>
            <a:ext cx="347472" cy="34747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332841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scheduler.start()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356616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启动 APScheduler 后台线程池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22376" y="3730752"/>
            <a:ext cx="0" cy="201168"/>
          </a:xfrm>
          <a:prstGeom prst="line">
            <a:avLst/>
          </a:prstGeom>
          <a:noFill/>
          <a:ln w="19050">
            <a:solidFill>
              <a:srgbClr val="38BDF8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57200" y="3931920"/>
            <a:ext cx="3931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4023360"/>
            <a:ext cx="347472" cy="34747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023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840" y="396849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atexit.register(cleanup)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05840" y="420624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应用退出时自动调用 shutdown_scheduler()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960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设计模式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754880" y="1371600"/>
            <a:ext cx="3931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1371600"/>
            <a:ext cx="54864" cy="74980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7" name="Shape 35"/>
          <p:cNvSpPr/>
          <p:nvPr/>
        </p:nvSpPr>
        <p:spPr>
          <a:xfrm>
            <a:off x="4754880" y="2240280"/>
            <a:ext cx="3931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2240280"/>
            <a:ext cx="54864" cy="7498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Shape 37"/>
          <p:cNvSpPr/>
          <p:nvPr/>
        </p:nvSpPr>
        <p:spPr>
          <a:xfrm>
            <a:off x="4754880" y="3108960"/>
            <a:ext cx="3931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108960"/>
            <a:ext cx="54864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Shape 39"/>
          <p:cNvSpPr/>
          <p:nvPr/>
        </p:nvSpPr>
        <p:spPr>
          <a:xfrm>
            <a:off x="4754880" y="3977640"/>
            <a:ext cx="39319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3977640"/>
            <a:ext cx="54864" cy="7498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APScheduler BackgroundScheduler  ·  IntervalTrigger / CronTrigger  ·  max_instances=1  ·  coalesce=False</a:t>
            </a:r>
            <a:endParaRPr lang="en-US" sz="900" dirty="0"/>
          </a:p>
        </p:txBody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554480"/>
            <a:ext cx="320040" cy="320040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5349240" y="14447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单例模式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5349240" y="17190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全局 _scheduler 变量，get_scheduler() 懒加载，确保整个进程只有一个 BackgroundScheduler 实例</a:t>
            </a:r>
            <a:endParaRPr lang="en-US" sz="850" dirty="0"/>
          </a:p>
        </p:txBody>
      </p:sp>
      <p:pic>
        <p:nvPicPr>
          <p:cNvPr id="4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291840"/>
            <a:ext cx="320040" cy="320040"/>
          </a:xfrm>
          <a:prstGeom prst="rect">
            <a:avLst/>
          </a:prstGeom>
        </p:spPr>
      </p:pic>
      <p:sp>
        <p:nvSpPr>
          <p:cNvPr id="49" name="Text 45"/>
          <p:cNvSpPr/>
          <p:nvPr/>
        </p:nvSpPr>
        <p:spPr>
          <a:xfrm>
            <a:off x="5349240" y="31821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应用上下文</a:t>
            </a:r>
            <a:endParaRPr lang="en-US" sz="1200" dirty="0"/>
          </a:p>
        </p:txBody>
      </p:sp>
      <p:sp>
        <p:nvSpPr>
          <p:cNvPr id="50" name="Text 46"/>
          <p:cNvSpPr/>
          <p:nvPr/>
        </p:nvSpPr>
        <p:spPr>
          <a:xfrm>
            <a:off x="5349240" y="345643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所有任务接收 app 参数，通过 with app.app_context() 手动推送上下文，避免 current_app 在子线程中失效</a:t>
            </a:r>
            <a:endParaRPr lang="en-US" sz="850" dirty="0"/>
          </a:p>
        </p:txBody>
      </p:sp>
      <p:pic>
        <p:nvPicPr>
          <p:cNvPr id="5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423160"/>
            <a:ext cx="320040" cy="320040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5349240" y="23134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工厂函数</a:t>
            </a:r>
            <a:endParaRPr lang="en-US" sz="1200" dirty="0"/>
          </a:p>
        </p:txBody>
      </p:sp>
      <p:sp>
        <p:nvSpPr>
          <p:cNvPr id="53" name="Text 48"/>
          <p:cNvSpPr/>
          <p:nvPr/>
        </p:nvSpPr>
        <p:spPr>
          <a:xfrm>
            <a:off x="5349240" y="258775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create_monitor_job() / create_cron_job() 提供统一的任务创建接口，隐藏触发器细节</a:t>
            </a:r>
            <a:endParaRPr lang="en-US" sz="850" dirty="0"/>
          </a:p>
        </p:txBody>
      </p:sp>
      <p:pic>
        <p:nvPicPr>
          <p:cNvPr id="5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4160520"/>
            <a:ext cx="320040" cy="320040"/>
          </a:xfrm>
          <a:prstGeom prst="rect">
            <a:avLst/>
          </a:prstGeom>
        </p:spPr>
      </p:pic>
      <p:sp>
        <p:nvSpPr>
          <p:cNvPr id="55" name="Text 49"/>
          <p:cNvSpPr/>
          <p:nvPr/>
        </p:nvSpPr>
        <p:spPr>
          <a:xfrm>
            <a:off x="5349240" y="40507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幂等注册</a:t>
            </a:r>
            <a:endParaRPr lang="en-US" sz="1200" dirty="0"/>
          </a:p>
        </p:txBody>
      </p:sp>
      <p:sp>
        <p:nvSpPr>
          <p:cNvPr id="56" name="Text 50"/>
          <p:cNvSpPr/>
          <p:nvPr/>
        </p:nvSpPr>
        <p:spPr>
          <a:xfrm>
            <a:off x="5349240" y="43251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每个任务注册前先检查 scheduler.get_job(job_id)，防止重复注册，支持热更新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任务执行流程图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5097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设备层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2529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Device Level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6350" dir="5400000">
              <a:srgbClr val="000000">
                <a:alpha val="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45920"/>
            <a:ext cx="36576" cy="47548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6459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check_all_devices_status()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20665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>
                    <a:alpha val="60000"/>
                  </a:srgbClr>
                </a:solidFill>
              </a:rPr>
              <a:t>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67712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6350" dir="5400000">
              <a:srgbClr val="000000">
                <a:alpha val="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267712"/>
            <a:ext cx="36576" cy="47548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26771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ThreadPoolExecutor (5 workers)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268833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>
                    <a:alpha val="60000"/>
                  </a:srgbClr>
                </a:solidFill>
              </a:rPr>
              <a:t>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89504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6350" dir="5400000">
              <a:srgbClr val="000000">
                <a:alpha val="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889504"/>
            <a:ext cx="36576" cy="47548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288950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SNMP sysName 查询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33101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>
                    <a:alpha val="60000"/>
                  </a:srgbClr>
                </a:solidFill>
              </a:rPr>
              <a:t>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511296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6350" dir="5400000">
              <a:srgbClr val="000000">
                <a:alpha val="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511296"/>
            <a:ext cx="36576" cy="47548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51129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ping_device() 检测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39319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>
                    <a:alpha val="60000"/>
                  </a:srgbClr>
                </a:solidFill>
              </a:rPr>
              <a:t>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133088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6350" dir="5400000">
              <a:srgbClr val="000000">
                <a:alpha val="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4133088"/>
            <a:ext cx="36576" cy="47548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413308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更新 Device.status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395728" y="22860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▶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60320" y="91440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2560320" y="95097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接口层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560320" y="122529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Interface Level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60320" y="1645920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6350" dir="5400000">
              <a:srgbClr val="000000">
                <a:alpha val="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0" y="1645920"/>
            <a:ext cx="36576" cy="4754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2670048" y="16459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poll_all_devices_interfaces()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560320" y="20665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>
                    <a:alpha val="60000"/>
                  </a:srgbClr>
                </a:solidFill>
              </a:rPr>
              <a:t>▼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60320" y="2267712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6350" dir="5400000">
              <a:srgbClr val="000000">
                <a:alpha val="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60320" y="2267712"/>
            <a:ext cx="36576" cy="4754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2670048" y="226771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遍历在线设备 + 有效 ifindex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560320" y="268833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>
                    <a:alpha val="60000"/>
                  </a:srgbClr>
                </a:solidFill>
              </a:rPr>
              <a:t>▼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560320" y="2889504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6350" dir="5400000">
              <a:srgbClr val="000000">
                <a:alpha val="4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560320" y="2889504"/>
            <a:ext cx="36576" cy="4754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2670048" y="288950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SNMP ifIn / ifOut / ifSpeed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560320" y="33101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>
                    <a:alpha val="60000"/>
                  </a:srgbClr>
                </a:solidFill>
              </a:rPr>
              <a:t>▼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560320" y="3511296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6350" dir="5400000">
              <a:srgbClr val="000000">
                <a:alpha val="4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560320" y="3511296"/>
            <a:ext cx="36576" cy="4754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2670048" y="351129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组装 JSON 数据记录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560320" y="39319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>
                    <a:alpha val="60000"/>
                  </a:srgbClr>
                </a:solidFill>
              </a:rPr>
              <a:t>▼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560320" y="4133088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6350" dir="5400000">
              <a:srgbClr val="000000">
                <a:alpha val="4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560320" y="4133088"/>
            <a:ext cx="36576" cy="4754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8" name="Text 46"/>
          <p:cNvSpPr/>
          <p:nvPr/>
        </p:nvSpPr>
        <p:spPr>
          <a:xfrm>
            <a:off x="2670048" y="413308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RPUSH → Redis 队列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498848" y="22860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▶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663440" y="91440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F59E0B"/>
          </a:solidFill>
          <a:ln/>
        </p:spPr>
      </p:sp>
      <p:sp>
        <p:nvSpPr>
          <p:cNvPr id="51" name="Text 49"/>
          <p:cNvSpPr/>
          <p:nvPr/>
        </p:nvSpPr>
        <p:spPr>
          <a:xfrm>
            <a:off x="4663440" y="95097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连接层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663440" y="122529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Connection Level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663440" y="1645920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6350" dir="5400000">
              <a:srgbClr val="000000">
                <a:alpha val="4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663440" y="1645920"/>
            <a:ext cx="36576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5" name="Text 53"/>
          <p:cNvSpPr/>
          <p:nvPr/>
        </p:nvSpPr>
        <p:spPr>
          <a:xfrm>
            <a:off x="4773168" y="16459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monitor_connections()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663440" y="20665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>
                    <a:alpha val="60000"/>
                  </a:srgbClr>
                </a:solidFill>
              </a:rPr>
              <a:t>▼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663440" y="2267712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6350" dir="5400000">
              <a:srgbClr val="000000">
                <a:alpha val="4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663440" y="2267712"/>
            <a:ext cx="36576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9" name="Text 57"/>
          <p:cNvSpPr/>
          <p:nvPr/>
        </p:nvSpPr>
        <p:spPr>
          <a:xfrm>
            <a:off x="4773168" y="226771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check_single_connection()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663440" y="268833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>
                    <a:alpha val="60000"/>
                  </a:srgbClr>
                </a:solidFill>
              </a:rPr>
              <a:t>▼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663440" y="2889504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6350" dir="5400000">
              <a:srgbClr val="000000">
                <a:alpha val="4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663440" y="2889504"/>
            <a:ext cx="36576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3" name="Text 61"/>
          <p:cNvSpPr/>
          <p:nvPr/>
        </p:nvSpPr>
        <p:spPr>
          <a:xfrm>
            <a:off x="4773168" y="288950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SNMP 端口状态 (ifOperStatus)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4663440" y="33101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>
                    <a:alpha val="60000"/>
                  </a:srgbClr>
                </a:solidFill>
              </a:rPr>
              <a:t>▼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663440" y="3511296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6350" dir="5400000">
              <a:srgbClr val="000000">
                <a:alpha val="4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4663440" y="3511296"/>
            <a:ext cx="36576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7" name="Text 65"/>
          <p:cNvSpPr/>
          <p:nvPr/>
        </p:nvSpPr>
        <p:spPr>
          <a:xfrm>
            <a:off x="4773168" y="351129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Ping 两端设备可达性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4663440" y="39319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>
                    <a:alpha val="60000"/>
                  </a:srgbClr>
                </a:solidFill>
              </a:rPr>
              <a:t>▼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663440" y="4133088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6350" dir="5400000">
              <a:srgbClr val="000000">
                <a:alpha val="4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4663440" y="4133088"/>
            <a:ext cx="36576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1" name="Text 69"/>
          <p:cNvSpPr/>
          <p:nvPr/>
        </p:nvSpPr>
        <p:spPr>
          <a:xfrm>
            <a:off x="4773168" y="413308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更新 ConnectionPath.link_status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6601968" y="22860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▶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766560" y="91440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8B5CF6"/>
          </a:solidFill>
          <a:ln/>
        </p:spPr>
      </p:sp>
      <p:sp>
        <p:nvSpPr>
          <p:cNvPr id="74" name="Text 72"/>
          <p:cNvSpPr/>
          <p:nvPr/>
        </p:nvSpPr>
        <p:spPr>
          <a:xfrm>
            <a:off x="6766560" y="95097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链路层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6766560" y="122529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Link Layer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766560" y="1645920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6350" dir="5400000">
              <a:srgbClr val="000000">
                <a:alpha val="4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6766560" y="1645920"/>
            <a:ext cx="36576" cy="4754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8" name="Text 76"/>
          <p:cNvSpPr/>
          <p:nvPr/>
        </p:nvSpPr>
        <p:spPr>
          <a:xfrm>
            <a:off x="6876288" y="16459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LinkMonitor.check_all_links()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6766560" y="20665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CF6">
                    <a:alpha val="60000"/>
                  </a:srgbClr>
                </a:solidFill>
              </a:rPr>
              <a:t>▼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6766560" y="2267712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6350" dir="5400000">
              <a:srgbClr val="000000">
                <a:alpha val="4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6766560" y="2267712"/>
            <a:ext cx="36576" cy="4754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2" name="Text 80"/>
          <p:cNvSpPr/>
          <p:nvPr/>
        </p:nvSpPr>
        <p:spPr>
          <a:xfrm>
            <a:off x="6876288" y="226771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LLDP 邻居验证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6766560" y="268833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CF6">
                    <a:alpha val="60000"/>
                  </a:srgbClr>
                </a:solidFill>
              </a:rPr>
              <a:t>▼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6766560" y="2889504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6350" dir="5400000">
              <a:srgbClr val="000000">
                <a:alpha val="4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6766560" y="2889504"/>
            <a:ext cx="36576" cy="4754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6" name="Text 84"/>
          <p:cNvSpPr/>
          <p:nvPr/>
        </p:nvSpPr>
        <p:spPr>
          <a:xfrm>
            <a:off x="6876288" y="288950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SNMP 端口 ifindex 解析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6766560" y="33101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CF6">
                    <a:alpha val="60000"/>
                  </a:srgbClr>
                </a:solidFill>
              </a:rPr>
              <a:t>▼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6766560" y="3511296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6350" dir="5400000">
              <a:srgbClr val="000000">
                <a:alpha val="4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6766560" y="3511296"/>
            <a:ext cx="36576" cy="4754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0" name="Text 88"/>
          <p:cNvSpPr/>
          <p:nvPr/>
        </p:nvSpPr>
        <p:spPr>
          <a:xfrm>
            <a:off x="6876288" y="351129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链路断开 → AlertEvent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6766560" y="39319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CF6">
                    <a:alpha val="60000"/>
                  </a:srgbClr>
                </a:solidFill>
              </a:rPr>
              <a:t>▼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6766560" y="4133088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6350" dir="5400000">
              <a:srgbClr val="000000">
                <a:alpha val="4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6766560" y="4133088"/>
            <a:ext cx="36576" cy="4754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4" name="Text 92"/>
          <p:cNvSpPr/>
          <p:nvPr/>
        </p:nvSpPr>
        <p:spPr>
          <a:xfrm>
            <a:off x="6876288" y="413308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拓扑同步 + 自动发现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457200" y="41605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/>
        </p:spPr>
      </p:sp>
      <p:sp>
        <p:nvSpPr>
          <p:cNvPr id="96" name="Shape 94"/>
          <p:cNvSpPr/>
          <p:nvPr/>
        </p:nvSpPr>
        <p:spPr>
          <a:xfrm>
            <a:off x="640080" y="4251960"/>
            <a:ext cx="137160" cy="1371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97" name="Text 95"/>
          <p:cNvSpPr/>
          <p:nvPr/>
        </p:nvSpPr>
        <p:spPr>
          <a:xfrm>
            <a:off x="822960" y="42062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SNMP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822960" y="44074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net-snmp 命令行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2697480" y="425196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0" name="Text 98"/>
          <p:cNvSpPr/>
          <p:nvPr/>
        </p:nvSpPr>
        <p:spPr>
          <a:xfrm>
            <a:off x="2880360" y="42062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Redis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2880360" y="44074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接口数据队列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4754880" y="4251960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3" name="Text 101"/>
          <p:cNvSpPr/>
          <p:nvPr/>
        </p:nvSpPr>
        <p:spPr>
          <a:xfrm>
            <a:off x="4937760" y="42062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MySQL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4937760" y="44074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Device / Interface 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ConnectionPath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6812280" y="4251960"/>
            <a:ext cx="137160" cy="1371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06" name="Text 104"/>
          <p:cNvSpPr/>
          <p:nvPr/>
        </p:nvSpPr>
        <p:spPr>
          <a:xfrm>
            <a:off x="6995160" y="42062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APScheduler</a:t>
            </a:r>
            <a:endParaRPr lang="en-US" sz="1000" dirty="0"/>
          </a:p>
        </p:txBody>
      </p:sp>
      <p:sp>
        <p:nvSpPr>
          <p:cNvPr id="107" name="Text 105"/>
          <p:cNvSpPr/>
          <p:nvPr/>
        </p:nvSpPr>
        <p:spPr>
          <a:xfrm>
            <a:off x="6995160" y="44074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IntervalTrigger +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CronTrigger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数据流转与模块协作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118872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APScheduler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15361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单例 · BackgroundScheduler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54864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548640"/>
            <a:ext cx="54864" cy="777240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3152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640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app.py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987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启动入口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74320" y="210312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4320" y="2103120"/>
            <a:ext cx="54864" cy="77724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14400" y="2194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tasks.py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914400" y="2542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设备/接口/连接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400800" y="54864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00800" y="548640"/>
            <a:ext cx="54864" cy="77724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73152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040880" y="640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monitor.py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7040880" y="987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指标/告警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6400800" y="210312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00800" y="210312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28600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40880" y="2194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link_monitor.py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040880" y="2542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链路/拓扑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3200400" y="347472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200400" y="3474720"/>
            <a:ext cx="54864" cy="7772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657600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840480" y="3566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utils.py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3840480" y="39136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SNMP/Ping 工具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5943600" y="347472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5943600" y="3474720"/>
            <a:ext cx="54864" cy="777240"/>
          </a:xfrm>
          <a:prstGeom prst="rect">
            <a:avLst/>
          </a:prstGeom>
          <a:solidFill>
            <a:srgbClr val="94A3B8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657600"/>
            <a:ext cx="365760" cy="3657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583680" y="3566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MySQL + Redis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6583680" y="39136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数据存储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2377440" y="777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① 启动</a:t>
            </a:r>
            <a:endParaRPr lang="en-US" sz="750" dirty="0"/>
          </a:p>
        </p:txBody>
      </p:sp>
      <p:sp>
        <p:nvSpPr>
          <p:cNvPr id="38" name="Text 30"/>
          <p:cNvSpPr/>
          <p:nvPr/>
        </p:nvSpPr>
        <p:spPr>
          <a:xfrm>
            <a:off x="2011680" y="23317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② 调度</a:t>
            </a:r>
            <a:endParaRPr lang="en-US" sz="750" dirty="0"/>
          </a:p>
        </p:txBody>
      </p:sp>
      <p:sp>
        <p:nvSpPr>
          <p:cNvPr id="39" name="Text 31"/>
          <p:cNvSpPr/>
          <p:nvPr/>
        </p:nvSpPr>
        <p:spPr>
          <a:xfrm>
            <a:off x="5852160" y="777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5CF6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② 调度</a:t>
            </a:r>
            <a:endParaRPr lang="en-US" sz="750" dirty="0"/>
          </a:p>
        </p:txBody>
      </p:sp>
      <p:sp>
        <p:nvSpPr>
          <p:cNvPr id="40" name="Text 32"/>
          <p:cNvSpPr/>
          <p:nvPr/>
        </p:nvSpPr>
        <p:spPr>
          <a:xfrm>
            <a:off x="5852160" y="23317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② 调度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1828800" y="3063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③ 调用</a:t>
            </a:r>
            <a:endParaRPr lang="en-US" sz="750" dirty="0"/>
          </a:p>
        </p:txBody>
      </p:sp>
      <p:sp>
        <p:nvSpPr>
          <p:cNvPr id="42" name="Text 34"/>
          <p:cNvSpPr/>
          <p:nvPr/>
        </p:nvSpPr>
        <p:spPr>
          <a:xfrm>
            <a:off x="5669280" y="3063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③ 调用</a:t>
            </a:r>
            <a:endParaRPr lang="en-US" sz="750" dirty="0"/>
          </a:p>
        </p:txBody>
      </p:sp>
      <p:sp>
        <p:nvSpPr>
          <p:cNvPr id="43" name="Text 35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① 启动关系   ② 调度关系   ③ 调用关系   ④ 数据读写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触发策略总览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914400"/>
                <a:gridCol w="1097280"/>
                <a:gridCol w="1188720"/>
                <a:gridCol w="8229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CJK SC Bold" pitchFamily="34" charset="0"/>
                          <a:ea typeface="Noto Sans CJK SC Bold" pitchFamily="34" charset="-122"/>
                          <a:cs typeface="Noto Sans CJK SC Bold" pitchFamily="34" charset="-120"/>
                        </a:rPr>
                        <a:t>任务名称</a:t>
                      </a:r>
                      <a:endParaRPr lang="en-US" sz="1100" dirty="0">
                        <a:latin typeface="Noto Sans CJK SC Bold" charset="0"/>
                        <a:ea typeface="Noto Sans CJK SC Bold" charset="0"/>
                        <a:cs typeface="Noto Sans CJK S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CJK SC Bold" pitchFamily="34" charset="0"/>
                          <a:ea typeface="Noto Sans CJK SC Bold" pitchFamily="34" charset="-122"/>
                          <a:cs typeface="Noto Sans CJK SC Bold" pitchFamily="34" charset="-120"/>
                        </a:rPr>
                        <a:t>任务ID</a:t>
                      </a:r>
                      <a:endParaRPr lang="en-US" sz="1100" dirty="0">
                        <a:latin typeface="Noto Sans CJK SC Bold" charset="0"/>
                        <a:ea typeface="Noto Sans CJK SC Bold" charset="0"/>
                        <a:cs typeface="Noto Sans CJK S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CJK SC Bold" pitchFamily="34" charset="0"/>
                          <a:ea typeface="Noto Sans CJK SC Bold" pitchFamily="34" charset="-122"/>
                          <a:cs typeface="Noto Sans CJK SC Bold" pitchFamily="34" charset="-120"/>
                        </a:rPr>
                        <a:t>触发方式</a:t>
                      </a:r>
                      <a:endParaRPr lang="en-US" sz="1100" dirty="0">
                        <a:latin typeface="Noto Sans CJK SC Bold" charset="0"/>
                        <a:ea typeface="Noto Sans CJK SC Bold" charset="0"/>
                        <a:cs typeface="Noto Sans CJK S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CJK SC Bold" pitchFamily="34" charset="0"/>
                          <a:ea typeface="Noto Sans CJK SC Bold" pitchFamily="34" charset="-122"/>
                          <a:cs typeface="Noto Sans CJK SC Bold" pitchFamily="34" charset="-120"/>
                        </a:rPr>
                        <a:t>触发参数</a:t>
                      </a:r>
                      <a:endParaRPr lang="en-US" sz="1100" dirty="0">
                        <a:latin typeface="Noto Sans CJK SC Bold" charset="0"/>
                        <a:ea typeface="Noto Sans CJK SC Bold" charset="0"/>
                        <a:cs typeface="Noto Sans CJK S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CJK SC Bold" pitchFamily="34" charset="0"/>
                          <a:ea typeface="Noto Sans CJK SC Bold" pitchFamily="34" charset="-122"/>
                          <a:cs typeface="Noto Sans CJK SC Bold" pitchFamily="34" charset="-120"/>
                        </a:rPr>
                        <a:t>实现模块</a:t>
                      </a:r>
                      <a:endParaRPr lang="en-US" sz="1100" dirty="0">
                        <a:latin typeface="Noto Sans CJK SC Bold" charset="0"/>
                        <a:ea typeface="Noto Sans CJK SC Bold" charset="0"/>
                        <a:cs typeface="Noto Sans CJK S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CJK SC Bold" pitchFamily="34" charset="0"/>
                          <a:ea typeface="Noto Sans CJK SC Bold" pitchFamily="34" charset="-122"/>
                          <a:cs typeface="Noto Sans CJK SC Bold" pitchFamily="34" charset="-120"/>
                        </a:rPr>
                        <a:t>优先级</a:t>
                      </a:r>
                      <a:endParaRPr lang="en-US" sz="1100" dirty="0">
                        <a:latin typeface="Noto Sans CJK SC Bold" charset="0"/>
                        <a:ea typeface="Noto Sans CJK SC Bold" charset="0"/>
                        <a:cs typeface="Noto Sans CJK S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设备状态检测</a:t>
                      </a:r>
                      <a:endParaRPr lang="en-US" sz="10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check_devices_status_job</a:t>
                      </a:r>
                      <a:endParaRPr lang="en-US" sz="9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Interval</a:t>
                      </a:r>
                      <a:endParaRPr lang="en-US" sz="10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5 分钟</a:t>
                      </a:r>
                      <a:endParaRPr lang="en-US" sz="10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tasks.py</a:t>
                      </a:r>
                      <a:endParaRPr lang="en-US" sz="10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★★★</a:t>
                      </a:r>
                      <a:endParaRPr lang="en-US" sz="10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接口数据采集</a:t>
                      </a:r>
                      <a:endParaRPr lang="en-US" sz="10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poll_interfaces_job</a:t>
                      </a:r>
                      <a:endParaRPr lang="en-US" sz="9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Interval</a:t>
                      </a:r>
                      <a:endParaRPr lang="en-US" sz="10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5 分钟</a:t>
                      </a:r>
                      <a:endParaRPr lang="en-US" sz="10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tasks.py</a:t>
                      </a:r>
                      <a:endParaRPr lang="en-US" sz="10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★★☆</a:t>
                      </a:r>
                      <a:endParaRPr lang="en-US" sz="10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连接监控</a:t>
                      </a:r>
                      <a:endParaRPr lang="en-US" sz="10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monitor_connections_job</a:t>
                      </a:r>
                      <a:endParaRPr lang="en-US" sz="9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Interval</a:t>
                      </a:r>
                      <a:endParaRPr lang="en-US" sz="10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120 秒</a:t>
                      </a:r>
                      <a:endParaRPr lang="en-US" sz="10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tasks.py</a:t>
                      </a:r>
                      <a:endParaRPr lang="en-US" sz="10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★★★</a:t>
                      </a:r>
                      <a:endParaRPr lang="en-US" sz="10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指标采集</a:t>
                      </a:r>
                      <a:endParaRPr lang="en-US" sz="10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collect_metrics_job</a:t>
                      </a:r>
                      <a:endParaRPr lang="en-US" sz="9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Interval</a:t>
                      </a:r>
                      <a:endParaRPr lang="en-US" sz="10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30 秒</a:t>
                      </a:r>
                      <a:endParaRPr lang="en-US" sz="10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monitor.py</a:t>
                      </a:r>
                      <a:endParaRPr lang="en-US" sz="10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★★☆</a:t>
                      </a:r>
                      <a:endParaRPr lang="en-US" sz="10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链路监控</a:t>
                      </a:r>
                      <a:endParaRPr lang="en-US" sz="10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link_monitor_job</a:t>
                      </a:r>
                      <a:endParaRPr lang="en-US" sz="9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Interval</a:t>
                      </a:r>
                      <a:endParaRPr lang="en-US" sz="10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60 秒</a:t>
                      </a:r>
                      <a:endParaRPr lang="en-US" sz="10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link_monitor.py</a:t>
                      </a:r>
                      <a:endParaRPr lang="en-US" sz="10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★★★</a:t>
                      </a:r>
                      <a:endParaRPr lang="en-US" sz="10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LLDP拓扑发现</a:t>
                      </a:r>
                      <a:endParaRPr lang="en-US" sz="10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lldp_discovery_job</a:t>
                      </a:r>
                      <a:endParaRPr lang="en-US" sz="9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Interval</a:t>
                      </a:r>
                      <a:endParaRPr lang="en-US" sz="10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1 小时</a:t>
                      </a:r>
                      <a:endParaRPr lang="en-US" sz="10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link_monitor.py</a:t>
                      </a:r>
                      <a:endParaRPr lang="en-US" sz="10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★☆☆</a:t>
                      </a:r>
                      <a:endParaRPr lang="en-US" sz="10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链路健康检查</a:t>
                      </a:r>
                      <a:endParaRPr lang="en-US" sz="10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link_health_check_job</a:t>
                      </a:r>
                      <a:endParaRPr lang="en-US" sz="9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Cron</a:t>
                      </a:r>
                      <a:endParaRPr lang="en-US" sz="10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每天 03:00</a:t>
                      </a:r>
                      <a:endParaRPr lang="en-US" sz="10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link_monitor.py</a:t>
                      </a:r>
                      <a:endParaRPr lang="en-US" sz="10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Noto Sans CJK SC Regular" pitchFamily="34" charset="0"/>
                          <a:ea typeface="Noto Sans CJK SC Regular" pitchFamily="34" charset="-122"/>
                          <a:cs typeface="Noto Sans CJK SC Regular" pitchFamily="34" charset="-120"/>
                        </a:rPr>
                        <a:t>★☆☆</a:t>
                      </a:r>
                      <a:endParaRPr lang="en-US" sz="1000" dirty="0">
                        <a:latin typeface="Noto Sans CJK SC Regular" charset="0"/>
                        <a:ea typeface="Noto Sans CJK SC Regular" charset="0"/>
                        <a:cs typeface="Noto Sans CJK SC Regula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343400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设计要点：高频任务（30s/60s）采集数据 → Redis 队列解耦  |  中频任务（2min/5min）做状态判断  |  低频任务（1h/Cron）做拓扑维护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调度系统设计要点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51560" y="1124712"/>
            <a:ext cx="36576" cy="4572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051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单例 + 懒加载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344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全局 _scheduler 变量确保进程内唯一实例，get_scheduler() 首次调用时才真正创建 BackgroundScheduler，避免循环导入和重复初始化。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01368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51560" y="1874520"/>
            <a:ext cx="36576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1801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四层监控分层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09397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设备层（在线检测）→ 接口层（流量采集）→ 连接层（链路状态）→ 链路层（LLDP 拓扑），职责清晰，互不耦合。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551176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51560" y="2624328"/>
            <a:ext cx="36576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25511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应用上下文安全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28437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所有定时任务接收 app 参数而非依赖 current_app，通过 with app.app_context() 手动推送，彻底避免子线程中上下文丢失的问题。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300984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04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051560" y="3374136"/>
            <a:ext cx="36576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33009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频率分级策略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5935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高频（30s 指标采集）走 Redis 队列解耦生产者/消费者；中频（1-5min 状态检测）直接入库；低频（1h/Cron）做拓扑维护，错峰合理。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050792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05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051560" y="4123944"/>
            <a:ext cx="36576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1234440" y="4050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 Bold" pitchFamily="34" charset="0"/>
                <a:ea typeface="Noto Sans CJK SC Bold" pitchFamily="34" charset="-122"/>
                <a:cs typeface="Noto Sans CJK SC Bold" pitchFamily="34" charset="-120"/>
              </a:rPr>
              <a:t>幂等 + 可恢复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每个任务注册前检查 job_id 是否已存在，先 remove 再 add，支持热更新不重启。atexit 注册清理函数，确保进程退出时调度器优雅关闭。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CJK SC Regular" pitchFamily="34" charset="0"/>
                <a:ea typeface="Noto Sans CJK SC Regular" pitchFamily="34" charset="-122"/>
                <a:cs typeface="Noto Sans CJK SC Regular" pitchFamily="34" charset="-120"/>
              </a:rPr>
              <a:t>网络资产管理系统 · 自动调度架构设计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网络资产管理系统 — 自动调度架构</dc:title>
  <dc:subject>PptxGenJS Presentation</dc:subject>
  <dc:creator>Yuanbao</dc:creator>
  <cp:lastModifiedBy>Yuanbao</cp:lastModifiedBy>
  <cp:revision>1</cp:revision>
  <dcterms:created xsi:type="dcterms:W3CDTF">2026-07-05T15:01:57Z</dcterms:created>
  <dcterms:modified xsi:type="dcterms:W3CDTF">2026-07-05T15:01:57Z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{"Label":"1","ContentProducer":"001191440300708461136T1WFUO","ProduceID":"bfd08663e87e9d438e375ee19cb801da-STpx","ReservedCode1":"{\"Type\":\" TC260PG\",\"Version\":1,\"Bindings\":[{\"Type\":\"soft\",\"AlgID\":\"sm3\",\"Value\":\"987be67fd72f91fb9e171de73e5ab16039743f7a70399d04f0b8c8dae0b128c6\"},{\"Type\":\"hash\",\"AlgID\":\"sm3\",\"Value\":\"4fe27086362b69ccc429cdeddff0a5b6385f8ee3890c0429ec2651e8efa843a2\"}],\"PubSD\":[{\"Type\":\"DS\",\"AlgID\":\"sm2\",\"TBSData\":{\"Type\":\"Binding\",\"BType\":\"hash\"},\"Signature\":\"304402204bc0c805f54e8195b1b542e6749222956948d53aee4a4a22beb02ff1cc474c5f0220031c3a46b264ac2129c6f6cfe6f1019f07f86d5a3e35a5f82879a022ffd004bd\"},{\"Type\":\"PubKey\",\"AlgID\":\"sm2\",\"KeyValue\":\"0407f79b28a17a752b3aae4305c98b48978213832729a2571850b1310b2bc9fe8fee039ccf25ebfeac27502414d9fcef792d777183c98893d226171c2f7a3289a2\"}],\"Extension\":{\"Timestamp\":1783263735,\"KeyVersion\":\"v1-TxLeOmf7bqU223\"}}","ContentPropagator":"001191440300708461136T1WFUO","PropagateID":"bfd08663e87e9d438e375ee19cb801da-STpx","ReservedCode2":"{\"Type\":\" TC260PG\",\"Version\":1,\"Bindings\":[{\"Type\":\"soft\",\"AlgID\":\"sm3\",\"Value\":\"987be67fd72f91fb9e171de73e5ab16039743f7a70399d04f0b8c8dae0b128c6\"},{\"Type\":\"hash\",\"AlgID\":\"sm3\",\"Value\":\"4fe27086362b69ccc429cdeddff0a5b6385f8ee3890c0429ec2651e8efa843a2\"}],\"PubSD\":[{\"Type\":\"DS\",\"AlgID\":\"sm2\",\"TBSData\":{\"Type\":\"Binding\",\"BType\":\"hash\"},\"Signature\":\"30450221008783a973bc83c1e0bbea2bd68b4a6fe802d727e7ccf9fd4101089207057ee88f02200ce478ef32073dc45a0ad9d8b8e8801f2c134fe466225b85df38610b3630a6f0\"},{\"Type\":\"PubKey\",\"AlgID\":\"sm2\",\"KeyValue\":\"0407f79b28a17a752b3aae4305c98b48978213832729a2571850b1310b2bc9fe8fee039ccf25ebfeac27502414d9fcef792d777183c98893d226171c2f7a3289a2\"}],\"Extension\":{\"Timestamp\":1783263735,\"KeyVersion\":\"v1-TxLeOmf7bqU223\"}}"}</vt:lpwstr>
  </property>
</Properties>
</file>